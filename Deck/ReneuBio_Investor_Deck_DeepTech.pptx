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6000" b="1">
                <a:solidFill>
                  <a:srgbClr val="FFFFFF"/>
                </a:solidFill>
              </a:defRPr>
            </a:pPr>
            <a:r>
              <a:t>RENEUBIO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0">
                <a:solidFill>
                  <a:srgbClr val="00F0FF"/>
                </a:solidFill>
              </a:defRPr>
            </a:pPr>
            <a:r>
              <a:t>Predicting Drug Failure Before It Costs Millions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B4BEC8"/>
                </a:solidFill>
              </a:defRPr>
            </a:pPr>
            <a:r>
              <a:t>AI-Driven CNS Molecular Design | Investor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CNS Drug Discovery is Broken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846320" cy="3657600"/>
          </a:xfrm>
          <a:prstGeom prst="roundRect">
            <a:avLst/>
          </a:prstGeom>
          <a:solidFill>
            <a:srgbClr val="16203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4846320" cy="3657600"/>
          </a:xfrm>
          <a:prstGeom prst="roundRect">
            <a:avLst/>
          </a:prstGeom>
          <a:solidFill>
            <a:srgbClr val="16203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</a:defRPr>
            </a:pPr>
            <a:r>
              <a:t>The Current Paradigm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B4BEC8"/>
                </a:solidFill>
              </a:defRPr>
            </a:pPr>
            <a:r>
              <a:t>• Industry spends years &amp; hundreds of millions optimizing non-viable compounds.</a:t>
            </a:r>
            <a:br/>
            <a:br/>
            <a:r>
              <a:t>• Core liabilities and toxicity are usually discovered too late.</a:t>
            </a:r>
            <a:br/>
            <a:br/>
            <a:r>
              <a:t>• Result: 90%+ failure rate in clinical trials.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F0FF"/>
                </a:solidFill>
              </a:defRPr>
            </a:pPr>
            <a:r>
              <a:t>The Deeptech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7432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B4BEC8"/>
                </a:solidFill>
              </a:defRPr>
            </a:pPr>
            <a:r>
              <a:t>• Use AI to predict clinical failure before trials begin.</a:t>
            </a:r>
            <a:br/>
            <a:br/>
            <a:r>
              <a:t>• Explain the specific structural liabilities (e.g., CYP-deactivation risk).</a:t>
            </a:r>
            <a:br/>
            <a:br/>
            <a:r>
              <a:t>• Redesign molecules to be safer in weeks, not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AlphaForge AI: Rescuing RNB001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14B496"/>
                </a:solidFill>
              </a:defRPr>
            </a:pPr>
            <a:r>
              <a:t>How we rescued our own CNS program in &lt;2 months and &lt;$50K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16203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BEFORE: RNB001</a:t>
            </a:r>
          </a:p>
        </p:txBody>
      </p:sp>
      <p:sp>
        <p:nvSpPr>
          <p:cNvPr id="6" name="Oval 5"/>
          <p:cNvSpPr/>
          <p:nvPr/>
        </p:nvSpPr>
        <p:spPr>
          <a:xfrm>
            <a:off x="1600200" y="3017520"/>
            <a:ext cx="1828800" cy="1828800"/>
          </a:xfrm>
          <a:prstGeom prst="ellipse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657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FFFFF"/>
                </a:solidFill>
              </a:defRPr>
            </a:pPr>
            <a:r>
              <a:t>High Risk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89120" y="3657600"/>
            <a:ext cx="914400" cy="45720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2286000"/>
            <a:ext cx="3200400" cy="3200400"/>
          </a:xfrm>
          <a:prstGeom prst="roundRect">
            <a:avLst/>
          </a:prstGeom>
          <a:solidFill>
            <a:srgbClr val="16203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AFTER: RNB027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3017520"/>
            <a:ext cx="1828800" cy="18288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3657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90E17"/>
                </a:solidFill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90E17"/>
                </a:solidFill>
              </a:defRPr>
            </a:pPr>
            <a:r>
              <a:t>Low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286000"/>
            <a:ext cx="2286000" cy="3200400"/>
          </a:xfrm>
          <a:prstGeom prst="roundRect">
            <a:avLst/>
          </a:prstGeom>
          <a:solidFill>
            <a:srgbClr val="16203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Results: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2004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B4BEC8"/>
                </a:solidFill>
              </a:defRPr>
            </a:pPr>
            <a:r>
              <a:t>• 3x PD Efficacy</a:t>
            </a:r>
            <a:br/>
            <a:r>
              <a:t>• Cleared Tox Risks</a:t>
            </a:r>
            <a:br/>
            <a:r>
              <a:t>• &lt; 2 Months</a:t>
            </a:r>
            <a:br/>
            <a:r>
              <a:t>• &lt; $50K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Risk Score Tracks Real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14B496"/>
                </a:solidFill>
              </a:defRPr>
            </a:pPr>
            <a:r>
              <a:t>Validating the AlphaForge engine across 393 CNS compounds (AUC = 0.884)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0332720" cy="3657600"/>
          </a:xfrm>
          <a:prstGeom prst="roundRect">
            <a:avLst/>
          </a:prstGeom>
          <a:solidFill>
            <a:srgbClr val="162030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3200400"/>
            <a:ext cx="8503920" cy="182880"/>
          </a:xfrm>
          <a:prstGeom prst="rect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B4BEC8"/>
                </a:solidFill>
              </a:defRPr>
            </a:pPr>
            <a:r>
              <a:t>0 (Low Risk)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B4BEC8"/>
                </a:solidFill>
              </a:defRPr>
            </a:pPr>
            <a:r>
              <a:t>100 (High Risk)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3108960"/>
            <a:ext cx="365760" cy="36576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Score: 5</a:t>
            </a:r>
            <a:br/>
            <a:r>
              <a:t>BRIVARACETAM</a:t>
            </a:r>
            <a:br/>
            <a:r>
              <a:t>(FDA Approved)</a:t>
            </a:r>
          </a:p>
        </p:txBody>
      </p:sp>
      <p:sp>
        <p:nvSpPr>
          <p:cNvPr id="10" name="Oval 9"/>
          <p:cNvSpPr/>
          <p:nvPr/>
        </p:nvSpPr>
        <p:spPr>
          <a:xfrm>
            <a:off x="9601200" y="3108960"/>
            <a:ext cx="365760" cy="365760"/>
          </a:xfrm>
          <a:prstGeom prst="ellipse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3931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Score: 95</a:t>
            </a:r>
            <a:br/>
            <a:r>
              <a:t>SITAXENTAN</a:t>
            </a:r>
            <a:br/>
            <a:r>
              <a:t>(Withdrawn - Tox)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