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5400" b="1">
                <a:solidFill>
                  <a:srgbClr val="FFFFFF"/>
                </a:solidFill>
              </a:defRPr>
            </a:pPr>
            <a:r>
              <a:t>ReneuBio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800">
                <a:solidFill>
                  <a:srgbClr val="64FFDA"/>
                </a:solidFill>
              </a:defRPr>
            </a:pPr>
            <a:r>
              <a:t>Predicting Drug Failure Before It Costs Millions</a:t>
            </a:r>
          </a:p>
          <a:p>
            <a:r>
              <a:t>Investor Deck - 2026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0A192F"/>
                </a:solidFill>
              </a:defRPr>
            </a:pPr>
            <a:r>
              <a:t>The Problem: CNS Drug Discovery is Broken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400"/>
              </a:spcAft>
              <a:defRPr sz="2400" b="1">
                <a:solidFill>
                  <a:srgbClr val="323232"/>
                </a:solidFill>
              </a:defRPr>
            </a:pPr>
            <a:r>
              <a:t>Most Central Nervous System (CNS) drugs fail late in clinical trials.</a:t>
            </a:r>
          </a:p>
          <a:p>
            <a:pPr>
              <a:spcAft>
                <a:spcPts val="1400"/>
              </a:spcAft>
              <a:defRPr sz="2400">
                <a:solidFill>
                  <a:srgbClr val="323232"/>
                </a:solidFill>
              </a:defRPr>
            </a:pPr>
            <a:r>
              <a:t>The industry spends years and hundreds of millions of dollars optimizing compounds that were never biologically viable.</a:t>
            </a:r>
          </a:p>
          <a:p>
            <a:pPr>
              <a:spcAft>
                <a:spcPts val="1400"/>
              </a:spcAft>
              <a:defRPr sz="2400">
                <a:solidFill>
                  <a:srgbClr val="323232"/>
                </a:solidFill>
              </a:defRPr>
            </a:pPr>
            <a:r>
              <a:t>Current methods fail to identify core structural risks and toxicity early enough.</a:t>
            </a:r>
          </a:p>
          <a:p>
            <a:pPr>
              <a:spcAft>
                <a:spcPts val="1400"/>
              </a:spcAft>
              <a:defRPr sz="2400">
                <a:solidFill>
                  <a:srgbClr val="323232"/>
                </a:solidFill>
              </a:defRPr>
            </a:pPr>
            <a:r>
              <a:t>Result: Massive capital waste and delayed life-saving treatments.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0A192F"/>
                </a:solidFill>
              </a:defRPr>
            </a:pPr>
            <a:r>
              <a:t>The Solution: AlphaForge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400"/>
              </a:spcAft>
              <a:defRPr sz="2400" b="1">
                <a:solidFill>
                  <a:srgbClr val="323232"/>
                </a:solidFill>
              </a:defRPr>
            </a:pPr>
            <a:r>
              <a:t>AlphaForge is our proprietary AI engine that stops bad drugs early and designs better ones.</a:t>
            </a:r>
          </a:p>
          <a:p>
            <a:pPr>
              <a:spcAft>
                <a:spcPts val="1400"/>
              </a:spcAft>
              <a:defRPr sz="2400">
                <a:solidFill>
                  <a:srgbClr val="323232"/>
                </a:solidFill>
              </a:defRPr>
            </a:pPr>
            <a:r>
              <a:t>Score Risk: We accurately predict the probability of clinical failure early in development.</a:t>
            </a:r>
          </a:p>
          <a:p>
            <a:pPr>
              <a:spcAft>
                <a:spcPts val="1400"/>
              </a:spcAft>
              <a:defRPr sz="2400">
                <a:solidFill>
                  <a:srgbClr val="323232"/>
                </a:solidFill>
              </a:defRPr>
            </a:pPr>
            <a:r>
              <a:t>Flag Liabilities: The AI explains exactly WHY a drug will fail (e.g., liver toxicity risk).</a:t>
            </a:r>
          </a:p>
          <a:p>
            <a:pPr>
              <a:spcAft>
                <a:spcPts val="1400"/>
              </a:spcAft>
              <a:defRPr sz="2400">
                <a:solidFill>
                  <a:srgbClr val="323232"/>
                </a:solidFill>
              </a:defRPr>
            </a:pPr>
            <a:r>
              <a:t>Redesign Molecules: We generate lower-risk, highly effective alternative molecules in weeks, not years.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0A192F"/>
                </a:solidFill>
              </a:defRPr>
            </a:pPr>
            <a:r>
              <a:t>Validation: Rescuing Our Own Program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400"/>
              </a:spcAft>
              <a:defRPr sz="2400" b="1">
                <a:solidFill>
                  <a:srgbClr val="323232"/>
                </a:solidFill>
              </a:defRPr>
            </a:pPr>
            <a:r>
              <a:t>We built AlphaForge because our own drug candidate (RNB001) had a 90% failure risk.</a:t>
            </a:r>
          </a:p>
          <a:p>
            <a:pPr>
              <a:spcAft>
                <a:spcPts val="1400"/>
              </a:spcAft>
              <a:defRPr sz="2400">
                <a:solidFill>
                  <a:srgbClr val="323232"/>
                </a:solidFill>
              </a:defRPr>
            </a:pPr>
            <a:r>
              <a:t>Using AlphaForge, we redesigned it into RNB027 in less than 2 months.</a:t>
            </a:r>
          </a:p>
          <a:p>
            <a:pPr>
              <a:spcAft>
                <a:spcPts val="1400"/>
              </a:spcAft>
              <a:defRPr sz="2400">
                <a:solidFill>
                  <a:srgbClr val="323232"/>
                </a:solidFill>
              </a:defRPr>
            </a:pPr>
            <a:r>
              <a:t>Risk Score dropped from 90 (High Risk) to 8 (Low Risk).</a:t>
            </a:r>
          </a:p>
          <a:p>
            <a:pPr>
              <a:spcAft>
                <a:spcPts val="1400"/>
              </a:spcAft>
              <a:defRPr sz="2400">
                <a:solidFill>
                  <a:srgbClr val="323232"/>
                </a:solidFill>
              </a:defRPr>
            </a:pPr>
            <a:r>
              <a:t>Performance: Achieved 3x better efficacy with less than $50K in experimental costs.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0A192F"/>
                </a:solidFill>
              </a:defRPr>
            </a:pPr>
            <a:r>
              <a:t>Unmatched Predictive Accuracy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400"/>
              </a:spcAft>
              <a:defRPr sz="2400" b="1">
                <a:solidFill>
                  <a:srgbClr val="323232"/>
                </a:solidFill>
              </a:defRPr>
            </a:pPr>
            <a:r>
              <a:t>Our Risk Score directly tracks real-world clinical outcomes.</a:t>
            </a:r>
          </a:p>
          <a:p>
            <a:pPr>
              <a:spcAft>
                <a:spcPts val="1400"/>
              </a:spcAft>
              <a:defRPr sz="2400">
                <a:solidFill>
                  <a:srgbClr val="323232"/>
                </a:solidFill>
              </a:defRPr>
            </a:pPr>
            <a:r>
              <a:t>Tested on 393 compounds with an incredible 88.4% accuracy (AUC 0.884).</a:t>
            </a:r>
          </a:p>
          <a:p>
            <a:pPr>
              <a:spcAft>
                <a:spcPts val="1400"/>
              </a:spcAft>
              <a:defRPr sz="2400">
                <a:solidFill>
                  <a:srgbClr val="323232"/>
                </a:solidFill>
              </a:defRPr>
            </a:pPr>
            <a:r>
              <a:t>Example 1: Brivaracetam scored 5 (Low Risk) -&gt; Successfully Approved by FDA.</a:t>
            </a:r>
          </a:p>
          <a:p>
            <a:pPr>
              <a:spcAft>
                <a:spcPts val="1400"/>
              </a:spcAft>
              <a:defRPr sz="2400">
                <a:solidFill>
                  <a:srgbClr val="323232"/>
                </a:solidFill>
              </a:defRPr>
            </a:pPr>
            <a:r>
              <a:t>Example 2: Sitaxentan scored 95 (High Risk) -&gt; Initially approved, but withdrawn due to fatal toxicity.</a:t>
            </a:r>
          </a:p>
          <a:p>
            <a:pPr>
              <a:spcAft>
                <a:spcPts val="1400"/>
              </a:spcAft>
              <a:defRPr sz="2400">
                <a:solidFill>
                  <a:srgbClr val="323232"/>
                </a:solidFill>
              </a:defRPr>
            </a:pPr>
            <a:r>
              <a:t>We identify the hidden risks that traditional methods miss.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0A192F"/>
                </a:solidFill>
              </a:defRPr>
            </a:pPr>
            <a:r>
              <a:t>Business Model: Two-Step Revenue Generation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400"/>
              </a:spcAft>
              <a:defRPr sz="2400" b="1">
                <a:solidFill>
                  <a:srgbClr val="323232"/>
                </a:solidFill>
              </a:defRPr>
            </a:pPr>
            <a:r>
              <a:t>Step 1: Pharma Partnerships (Near-Term Revenue).</a:t>
            </a:r>
          </a:p>
          <a:p>
            <a:pPr>
              <a:spcAft>
                <a:spcPts val="1400"/>
              </a:spcAft>
              <a:defRPr sz="2400">
                <a:solidFill>
                  <a:srgbClr val="323232"/>
                </a:solidFill>
              </a:defRPr>
            </a:pPr>
            <a:r>
              <a:t>We charge Pharma to screen their portfolios, flag risky assets, and redesign failing molecules.</a:t>
            </a:r>
          </a:p>
          <a:p>
            <a:pPr>
              <a:spcAft>
                <a:spcPts val="1400"/>
              </a:spcAft>
              <a:defRPr sz="2400">
                <a:solidFill>
                  <a:srgbClr val="323232"/>
                </a:solidFill>
              </a:defRPr>
            </a:pPr>
            <a:r>
              <a:t>Step 2: Selective Upside Capture (Long-Term Value).</a:t>
            </a:r>
          </a:p>
          <a:p>
            <a:pPr>
              <a:spcAft>
                <a:spcPts val="1400"/>
              </a:spcAft>
              <a:defRPr sz="2400">
                <a:solidFill>
                  <a:srgbClr val="323232"/>
                </a:solidFill>
              </a:defRPr>
            </a:pPr>
            <a:r>
              <a:t>We apply AlphaForge to internal or carefully selected external assets to de-risk them.</a:t>
            </a:r>
          </a:p>
          <a:p>
            <a:pPr>
              <a:spcAft>
                <a:spcPts val="1400"/>
              </a:spcAft>
              <a:defRPr sz="2400">
                <a:solidFill>
                  <a:srgbClr val="323232"/>
                </a:solidFill>
              </a:defRPr>
            </a:pPr>
            <a:r>
              <a:t>We then license these highly valuable, partner-ready assets before expensive clinical trials.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0A192F"/>
                </a:solidFill>
              </a:defRPr>
            </a:pPr>
            <a:r>
              <a:t>Traction &amp; Next Milestones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400"/>
              </a:spcAft>
              <a:defRPr sz="2400" b="1">
                <a:solidFill>
                  <a:srgbClr val="323232"/>
                </a:solidFill>
              </a:defRPr>
            </a:pPr>
            <a:r>
              <a:t>Currently collaborating with UC Berkeley's Molecular Therapeutics Initiative.</a:t>
            </a:r>
          </a:p>
          <a:p>
            <a:pPr>
              <a:spcAft>
                <a:spcPts val="1400"/>
              </a:spcAft>
              <a:defRPr sz="2400">
                <a:solidFill>
                  <a:srgbClr val="323232"/>
                </a:solidFill>
              </a:defRPr>
            </a:pPr>
            <a:r>
              <a:t>Raising $5M to scale our platform across the industry.</a:t>
            </a:r>
          </a:p>
          <a:p>
            <a:pPr>
              <a:spcAft>
                <a:spcPts val="1400"/>
              </a:spcAft>
              <a:defRPr sz="2400">
                <a:solidFill>
                  <a:srgbClr val="323232"/>
                </a:solidFill>
              </a:defRPr>
            </a:pPr>
            <a:r>
              <a:t>Next 18 Months Milestones:</a:t>
            </a:r>
          </a:p>
          <a:p>
            <a:pPr>
              <a:spcAft>
                <a:spcPts val="1400"/>
              </a:spcAft>
              <a:defRPr sz="2400">
                <a:solidFill>
                  <a:srgbClr val="323232"/>
                </a:solidFill>
              </a:defRPr>
            </a:pPr>
            <a:r>
              <a:t>  1. Secure 2 major paid commercial engagements with Pharma.</a:t>
            </a:r>
          </a:p>
          <a:p>
            <a:pPr>
              <a:spcAft>
                <a:spcPts val="1400"/>
              </a:spcAft>
              <a:defRPr sz="2400">
                <a:solidFill>
                  <a:srgbClr val="323232"/>
                </a:solidFill>
              </a:defRPr>
            </a:pPr>
            <a:r>
              <a:t>  2. Deploy AlphaForge across 3 independent partner programs.</a:t>
            </a:r>
          </a:p>
          <a:p>
            <a:pPr>
              <a:spcAft>
                <a:spcPts val="1400"/>
              </a:spcAft>
              <a:defRPr sz="2400">
                <a:solidFill>
                  <a:srgbClr val="323232"/>
                </a:solidFill>
              </a:defRPr>
            </a:pPr>
            <a:r>
              <a:t>  3. Build a repeatable pipeline of partner-ready CNS assets.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0A192F"/>
                </a:solidFill>
              </a:defRPr>
            </a:pPr>
            <a:r>
              <a:t>Built by World-Class Experts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400"/>
              </a:spcAft>
              <a:defRPr sz="2400" b="1">
                <a:solidFill>
                  <a:srgbClr val="323232"/>
                </a:solidFill>
              </a:defRPr>
            </a:pPr>
            <a:r>
              <a:t>Our team combines deep expertise in AI, Medicinal Chemistry, and Aging Biology.</a:t>
            </a:r>
          </a:p>
          <a:p>
            <a:pPr>
              <a:spcAft>
                <a:spcPts val="1400"/>
              </a:spcAft>
              <a:defRPr sz="2400">
                <a:solidFill>
                  <a:srgbClr val="323232"/>
                </a:solidFill>
              </a:defRPr>
            </a:pPr>
            <a:r>
              <a:t>Salah Mahmoudi, PhD (CEO) - Drug discovery &amp; company building.</a:t>
            </a:r>
          </a:p>
          <a:p>
            <a:pPr>
              <a:spcAft>
                <a:spcPts val="1400"/>
              </a:spcAft>
              <a:defRPr sz="2400">
                <a:solidFill>
                  <a:srgbClr val="323232"/>
                </a:solidFill>
              </a:defRPr>
            </a:pPr>
            <a:r>
              <a:t>Tyson Ruetz, PhD (CSO) - Aging brain biology (Published in Nature &amp; Science).</a:t>
            </a:r>
          </a:p>
          <a:p>
            <a:pPr>
              <a:spcAft>
                <a:spcPts val="1400"/>
              </a:spcAft>
              <a:defRPr sz="2400">
                <a:solidFill>
                  <a:srgbClr val="323232"/>
                </a:solidFill>
              </a:defRPr>
            </a:pPr>
            <a:r>
              <a:t>Stylianos Kyriacou, PhD (CTO) - AI platform &amp; molecular design.</a:t>
            </a:r>
          </a:p>
          <a:p>
            <a:pPr>
              <a:spcAft>
                <a:spcPts val="1400"/>
              </a:spcAft>
              <a:defRPr sz="2400">
                <a:solidFill>
                  <a:srgbClr val="323232"/>
                </a:solidFill>
              </a:defRPr>
            </a:pPr>
            <a:r>
              <a:t>Backed by expert advisors from Stanford, Vertex, and UC Berkeley.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5400" b="1">
                <a:solidFill>
                  <a:srgbClr val="FFFFFF"/>
                </a:solidFill>
              </a:defRPr>
            </a:pPr>
            <a:r>
              <a:t>Join Us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800">
                <a:solidFill>
                  <a:srgbClr val="64FFDA"/>
                </a:solidFill>
              </a:defRPr>
            </a:pPr>
            <a:r>
              <a:t>Transforming CNS Drug Development</a:t>
            </a:r>
          </a:p>
          <a:p>
            <a:r>
              <a:t>Contact: salah.mahmoudi@reneubio.com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