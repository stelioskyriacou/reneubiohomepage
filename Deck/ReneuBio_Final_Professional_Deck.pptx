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457200"/>
            <a:ext cx="91440" cy="91440"/>
          </a:xfrm>
          <a:prstGeom prst="ellipse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1371600"/>
            <a:ext cx="91440" cy="91440"/>
          </a:xfrm>
          <a:prstGeom prst="ellipse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0" y="731520"/>
            <a:ext cx="91440" cy="91440"/>
          </a:xfrm>
          <a:prstGeom prst="ellipse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0" y="1828800"/>
            <a:ext cx="91440" cy="91440"/>
          </a:xfrm>
          <a:prstGeom prst="ellipse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0104120" y="502920"/>
            <a:ext cx="914400" cy="914400"/>
          </a:xfrm>
          <a:prstGeom prst="line">
            <a:avLst/>
          </a:prstGeom>
          <a:ln w="12700">
            <a:solidFill>
              <a:srgbClr val="E6F0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1018520" y="777240"/>
            <a:ext cx="457200" cy="640080"/>
          </a:xfrm>
          <a:prstGeom prst="line">
            <a:avLst/>
          </a:prstGeom>
          <a:ln w="12700">
            <a:solidFill>
              <a:srgbClr val="E6F0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0561320" y="777240"/>
            <a:ext cx="914400" cy="1097279"/>
          </a:xfrm>
          <a:prstGeom prst="line">
            <a:avLst/>
          </a:prstGeom>
          <a:ln w="12700">
            <a:solidFill>
              <a:srgbClr val="E6F0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5400" b="1">
                <a:solidFill>
                  <a:srgbClr val="282832"/>
                </a:solidFill>
              </a:defRPr>
            </a:pPr>
            <a:r>
              <a:t>RENEUBIO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0">
                <a:solidFill>
                  <a:srgbClr val="1E82E6"/>
                </a:solidFill>
              </a:defRPr>
            </a:pPr>
            <a:r>
              <a:t>Predicting Drug Failure Before It Costs Millions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0">
                <a:solidFill>
                  <a:srgbClr val="646E78"/>
                </a:solidFill>
              </a:defRPr>
            </a:pPr>
            <a:r>
              <a:t>AI-Driven CNS Molecular Design | Non-Confidential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457200"/>
            <a:ext cx="91440" cy="91440"/>
          </a:xfrm>
          <a:prstGeom prst="ellipse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1371600"/>
            <a:ext cx="91440" cy="91440"/>
          </a:xfrm>
          <a:prstGeom prst="ellipse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0" y="731520"/>
            <a:ext cx="91440" cy="91440"/>
          </a:xfrm>
          <a:prstGeom prst="ellipse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0" y="1828800"/>
            <a:ext cx="91440" cy="91440"/>
          </a:xfrm>
          <a:prstGeom prst="ellipse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0104120" y="502920"/>
            <a:ext cx="914400" cy="914400"/>
          </a:xfrm>
          <a:prstGeom prst="line">
            <a:avLst/>
          </a:prstGeom>
          <a:ln w="12700">
            <a:solidFill>
              <a:srgbClr val="E6F0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1018520" y="777240"/>
            <a:ext cx="457200" cy="640080"/>
          </a:xfrm>
          <a:prstGeom prst="line">
            <a:avLst/>
          </a:prstGeom>
          <a:ln w="12700">
            <a:solidFill>
              <a:srgbClr val="E6F0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0561320" y="777240"/>
            <a:ext cx="914400" cy="1097279"/>
          </a:xfrm>
          <a:prstGeom prst="line">
            <a:avLst/>
          </a:prstGeom>
          <a:ln w="12700">
            <a:solidFill>
              <a:srgbClr val="E6F0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82832"/>
                </a:solidFill>
              </a:defRPr>
            </a:pPr>
            <a:r>
              <a:t>CNS Drug Discovery is Broken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828800"/>
            <a:ext cx="4846320" cy="3657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1031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282832"/>
                </a:solidFill>
              </a:defRPr>
            </a:pPr>
            <a:r>
              <a:t>The Current Paradigm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743200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0">
                <a:solidFill>
                  <a:srgbClr val="646E78"/>
                </a:solidFill>
              </a:defRPr>
            </a:pPr>
            <a:r>
              <a:t>• Industry spends years &amp; millions optimizing non-viable compounds.</a:t>
            </a:r>
            <a:br/>
            <a:br/>
            <a:r>
              <a:t>• Core liabilities and toxicity are usually discovered too late.</a:t>
            </a:r>
            <a:br/>
            <a:br/>
            <a:r>
              <a:t>• Result: Massive capital waste.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4846320" cy="3657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1031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1E82E6"/>
                </a:solidFill>
              </a:defRPr>
            </a:pPr>
            <a:r>
              <a:t>The AlphaForge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743200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0">
                <a:solidFill>
                  <a:srgbClr val="646E78"/>
                </a:solidFill>
              </a:defRPr>
            </a:pPr>
            <a:r>
              <a:t>• Predict clinical failure before trials begin.</a:t>
            </a:r>
            <a:br/>
            <a:br/>
            <a:r>
              <a:t>• Explain the specific structural liabilities.</a:t>
            </a:r>
            <a:br/>
            <a:br/>
            <a:r>
              <a:t>• Redesign molecules to be safer in weeks, not years.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457200"/>
            <a:ext cx="91440" cy="91440"/>
          </a:xfrm>
          <a:prstGeom prst="ellipse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1371600"/>
            <a:ext cx="91440" cy="91440"/>
          </a:xfrm>
          <a:prstGeom prst="ellipse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0" y="731520"/>
            <a:ext cx="91440" cy="91440"/>
          </a:xfrm>
          <a:prstGeom prst="ellipse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0" y="1828800"/>
            <a:ext cx="91440" cy="91440"/>
          </a:xfrm>
          <a:prstGeom prst="ellipse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0104120" y="502920"/>
            <a:ext cx="914400" cy="914400"/>
          </a:xfrm>
          <a:prstGeom prst="line">
            <a:avLst/>
          </a:prstGeom>
          <a:ln w="12700">
            <a:solidFill>
              <a:srgbClr val="E6F0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1018520" y="777240"/>
            <a:ext cx="457200" cy="640080"/>
          </a:xfrm>
          <a:prstGeom prst="line">
            <a:avLst/>
          </a:prstGeom>
          <a:ln w="12700">
            <a:solidFill>
              <a:srgbClr val="E6F0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0561320" y="777240"/>
            <a:ext cx="914400" cy="1097279"/>
          </a:xfrm>
          <a:prstGeom prst="line">
            <a:avLst/>
          </a:prstGeom>
          <a:ln w="12700">
            <a:solidFill>
              <a:srgbClr val="E6F0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82832"/>
                </a:solidFill>
              </a:defRPr>
            </a:pPr>
            <a:r>
              <a:t>AlphaForge AI: Rescuing RNB001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0">
                <a:solidFill>
                  <a:srgbClr val="14B496"/>
                </a:solidFill>
              </a:defRPr>
            </a:pPr>
            <a:r>
              <a:t>How we rescued our own high-risk CNS program in &lt;2 months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286000"/>
            <a:ext cx="3200400" cy="32004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282832"/>
                </a:solidFill>
              </a:defRPr>
            </a:pPr>
            <a:r>
              <a:t>BEFORE: RNB001</a:t>
            </a:r>
          </a:p>
        </p:txBody>
      </p:sp>
      <p:sp>
        <p:nvSpPr>
          <p:cNvPr id="14" name="Oval 13"/>
          <p:cNvSpPr/>
          <p:nvPr/>
        </p:nvSpPr>
        <p:spPr>
          <a:xfrm>
            <a:off x="1600200" y="3017520"/>
            <a:ext cx="1828800" cy="1828800"/>
          </a:xfrm>
          <a:prstGeom prst="ellipse">
            <a:avLst/>
          </a:prstGeom>
          <a:solidFill>
            <a:srgbClr val="DC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36576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000" b="1">
                <a:solidFill>
                  <a:srgbClr val="FFFFFF"/>
                </a:solidFill>
              </a:defRPr>
            </a:pPr>
            <a:r>
              <a:t>90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389120" y="3657600"/>
            <a:ext cx="914400" cy="457200"/>
          </a:xfrm>
          <a:prstGeom prst="rightArrow">
            <a:avLst/>
          </a:prstGeom>
          <a:solidFill>
            <a:srgbClr val="1E8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577840" y="2286000"/>
            <a:ext cx="3200400" cy="32004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282832"/>
                </a:solidFill>
              </a:defRPr>
            </a:pPr>
            <a:r>
              <a:t>AFTER: RNB027</a:t>
            </a:r>
          </a:p>
        </p:txBody>
      </p:sp>
      <p:sp>
        <p:nvSpPr>
          <p:cNvPr id="19" name="Oval 18"/>
          <p:cNvSpPr/>
          <p:nvPr/>
        </p:nvSpPr>
        <p:spPr>
          <a:xfrm>
            <a:off x="6263640" y="3017520"/>
            <a:ext cx="1828800" cy="1828800"/>
          </a:xfrm>
          <a:prstGeom prst="ellipse">
            <a:avLst/>
          </a:prstGeom>
          <a:solidFill>
            <a:srgbClr val="1E8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36576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286000"/>
            <a:ext cx="2286000" cy="32004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2468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282832"/>
                </a:solidFill>
              </a:defRPr>
            </a:pPr>
            <a:r>
              <a:t>Results: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20040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646E78"/>
                </a:solidFill>
              </a:defRPr>
            </a:pPr>
            <a:r>
              <a:t>• 3x PD Efficacy</a:t>
            </a:r>
            <a:br/>
            <a:r>
              <a:t>• Cleared Tox Risks</a:t>
            </a:r>
            <a:br/>
            <a:r>
              <a:t>• &lt; 2 Months</a:t>
            </a:r>
            <a:br/>
            <a:r>
              <a:t>• &lt; $50K Cost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457200"/>
            <a:ext cx="91440" cy="91440"/>
          </a:xfrm>
          <a:prstGeom prst="ellipse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1371600"/>
            <a:ext cx="91440" cy="91440"/>
          </a:xfrm>
          <a:prstGeom prst="ellipse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0" y="731520"/>
            <a:ext cx="91440" cy="91440"/>
          </a:xfrm>
          <a:prstGeom prst="ellipse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0" y="1828800"/>
            <a:ext cx="91440" cy="91440"/>
          </a:xfrm>
          <a:prstGeom prst="ellipse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0104120" y="502920"/>
            <a:ext cx="914400" cy="914400"/>
          </a:xfrm>
          <a:prstGeom prst="line">
            <a:avLst/>
          </a:prstGeom>
          <a:ln w="12700">
            <a:solidFill>
              <a:srgbClr val="E6F0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1018520" y="777240"/>
            <a:ext cx="457200" cy="640080"/>
          </a:xfrm>
          <a:prstGeom prst="line">
            <a:avLst/>
          </a:prstGeom>
          <a:ln w="12700">
            <a:solidFill>
              <a:srgbClr val="E6F0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0561320" y="777240"/>
            <a:ext cx="914400" cy="1097279"/>
          </a:xfrm>
          <a:prstGeom prst="line">
            <a:avLst/>
          </a:prstGeom>
          <a:ln w="12700">
            <a:solidFill>
              <a:srgbClr val="E6F0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82832"/>
                </a:solidFill>
              </a:defRPr>
            </a:pPr>
            <a:r>
              <a:t>Business Model: Two-Step Generation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286000"/>
            <a:ext cx="4846320" cy="3657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5603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282832"/>
                </a:solidFill>
              </a:defRPr>
            </a:pPr>
            <a:r>
              <a:t>Step 1: Pharma Partnerships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0">
                <a:solidFill>
                  <a:srgbClr val="646E78"/>
                </a:solidFill>
              </a:defRPr>
            </a:pPr>
            <a:r>
              <a:t>Near-Term Revenue</a:t>
            </a:r>
            <a:br/>
            <a:r>
              <a:t>Charge Pharma to screen portfolios, flag risky assets, and redesign failing molecules.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286000"/>
            <a:ext cx="4846320" cy="36576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5603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1E82E6"/>
                </a:solidFill>
              </a:defRPr>
            </a:pPr>
            <a:r>
              <a:t>Step 2: Selective Upside Capture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200400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0">
                <a:solidFill>
                  <a:srgbClr val="646E78"/>
                </a:solidFill>
              </a:defRPr>
            </a:pPr>
            <a:r>
              <a:t>Long-Term Value</a:t>
            </a:r>
            <a:br/>
            <a:r>
              <a:t>Apply AlphaForge to select assets to de-risk them. License these partner-ready assets before clinical trials.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